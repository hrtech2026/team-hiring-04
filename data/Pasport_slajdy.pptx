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аспорт противоречия" id="{fe090254-86e8-b33c-1bf9-de78b7fdd4dd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3"/>
                </a:solidFill>
                <a:latin typeface="+mn-lt"/>
              </a:rPr>
              <a:t>Откликов на вакансию, среднее (hh.ru)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Откликов на вакансию</c:v>
                </c:pt>
              </c:strCache>
            </c:strRef>
          </c:tx>
          <c:spPr>
            <a:solidFill>
              <a:srgbClr val="9FB6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6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E7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431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37</c:v>
                </c:pt>
                <c:pt idx="2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противоречия: нам нужно сделать первичный скрининг быстрым и массовым, НО при этом усиливается риск необоснованных и непрозрачных отказов.
A — скорость: среднее число откликов на вакансию у офисных специалистов на hh.ru выросло с 24 (2024) до 37 (2025) и 61 (2026).
B — справедливость: в эксперименте Университета Вашингтона (3 млн сравнений резюме и вакансий, открытые модели) резюме с «белыми» именами выбирали в 85% случаев, с женскими — в 11%, с мужскими — в 52%.
Важно: проблема не в отсутствии бота. Нейросети уже используются, и автоматизация ускоряет A, но тиражирует смещения B на весь поток. Без ИИ конфликт тот же: у рекрутера секунды на резюме.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в чём измеряет успех: рекрутер — время на резюме и нагрузка; руководитель — time-to-hire и доля релевантных в шорт-листе; кандидат — доля отказов без обратной связи и ошибочных отказов; компания — стоимость найма, упущенные таланты, юридические риски.
Масштаб: отклики на вакансию растут (24 → 37 → 61), при этом в кейсе одного работодателя из ~300 откликов по большинству требований подошли 35 (≈12%).
По данным Harvard Business School и Accenture, в США около 27 млн квалифицированных людей «скрыты» фильтрами, а 88% опрошенных руководителей признают, что системы отсеивают подходящих кандидатов.
Выигрывают в краткосрочной перспективе рекрутер и руководитель (скорость). Кандидат платит сразу — отказом по скрытым критериям. Компания платит позже: упущенные кадры, иски, репутация.
Пробел: открытых российских данных о доле ошибочных отказов нет — измерим сами при проверке на X реальных вакансиях.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Точка максимального напряжения — первичный скрининг: решение принимается за секунды и по неполным критериям, а в данных видны имя, пол, возраст.
Как люди адаптируются: загружают резюме в нейросеть без настройки под вакансию, принимают ответ модели как готовое решение, используют жёсткие стоп-фильтры (стаж, пробелы в карьере). Пункты «по диагонали» и «шорт-лист возвращают» — гипотезы, их надо подтвердить интервью с HR.
Почему не решить приказом: запрет ИИ приведёт к «теневому» использованию; требование читать каждое резюме невыполнимо (61 отклик × 1,5 мин ≈ 1,5 ч на вакансию, ≈15 ч на 10 вакансий — это расчёт команды); требование «не дискриминировать» нельзя проверить, пока критерии не формализованы.
Риски: правовые (иски о дискриминации, например Mobley v. Workday; обработка персональных данных во внешних ИИ-сервисах), кадровые, управленческие (решение де-факто принимает модель) и репутационные.
Связь с проектом: TO BE разводит A и B — ИИ берёт на себя скорость, а справедливость удерживают обезличивание, прозрачные критерии и финальное решение за человеком.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Скорость против справедливости</a:t>
            </a:r>
            <a:endParaRPr lang="en-US" sz="3200" dirty="0"/>
          </a:p>
        </p:txBody>
      </p:sp>
      <p:sp>
        <p:nvSpPr>
          <p:cNvPr id="3" name="Card A"/>
          <p:cNvSpPr/>
          <p:nvPr/>
        </p:nvSpPr>
        <p:spPr>
          <a:xfrm>
            <a:off x="548640" y="1463040"/>
            <a:ext cx="4572000" cy="3794760"/>
          </a:xfrm>
          <a:prstGeom prst="roundRect">
            <a:avLst>
              <a:gd name="adj" fmla="val 28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 icon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A icon icon" descr="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6" name="A heading"/>
          <p:cNvSpPr txBox="1"/>
          <p:nvPr/>
        </p:nvSpPr>
        <p:spPr>
          <a:xfrm>
            <a:off x="173736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ПАРАМЕТР A</a:t>
            </a:r>
            <a:endParaRPr lang="en-US" sz="12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Быстро и массово</a:t>
            </a:r>
            <a:endParaRPr lang="en-US" sz="1200" dirty="0"/>
          </a:p>
        </p:txBody>
      </p:sp>
      <p:sp>
        <p:nvSpPr>
          <p:cNvPr id="7" name="A stat"/>
          <p:cNvSpPr txBox="1"/>
          <p:nvPr/>
        </p:nvSpPr>
        <p:spPr>
          <a:xfrm>
            <a:off x="822960" y="28117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</a:t>
            </a:r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61</a:t>
            </a:r>
            <a:endParaRPr lang="en-US" sz="6000" dirty="0"/>
          </a:p>
        </p:txBody>
      </p:sp>
      <p:sp>
        <p:nvSpPr>
          <p:cNvPr id="8" name="A caption"/>
          <p:cNvSpPr txBox="1"/>
          <p:nvPr/>
        </p:nvSpPr>
        <p:spPr>
          <a:xfrm>
            <a:off x="82296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откликов на одну вакансию за два года (2024 → 2026)</a:t>
            </a:r>
            <a:endParaRPr lang="en-US" sz="1600" dirty="0"/>
          </a:p>
        </p:txBody>
      </p:sp>
      <p:sp>
        <p:nvSpPr>
          <p:cNvPr id="9" name="Card B"/>
          <p:cNvSpPr/>
          <p:nvPr/>
        </p:nvSpPr>
        <p:spPr>
          <a:xfrm>
            <a:off x="7068312" y="1463040"/>
            <a:ext cx="4572000" cy="3794760"/>
          </a:xfrm>
          <a:prstGeom prst="roundRect">
            <a:avLst>
              <a:gd name="adj" fmla="val 28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 icon"/>
          <p:cNvSpPr/>
          <p:nvPr/>
        </p:nvSpPr>
        <p:spPr>
          <a:xfrm>
            <a:off x="7342632" y="17373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B icon icon" descr="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827" y="1927555"/>
            <a:ext cx="351130" cy="351130"/>
          </a:xfrm>
          <a:prstGeom prst="rect">
            <a:avLst/>
          </a:prstGeom>
        </p:spPr>
      </p:pic>
      <p:sp>
        <p:nvSpPr>
          <p:cNvPr id="12" name="B heading"/>
          <p:cNvSpPr txBox="1"/>
          <p:nvPr/>
        </p:nvSpPr>
        <p:spPr>
          <a:xfrm>
            <a:off x="8257032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ПАРАМЕТР B</a:t>
            </a:r>
            <a:endParaRPr lang="en-US" sz="12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Честно и прозрачно</a:t>
            </a:r>
            <a:endParaRPr lang="en-US" sz="1200" dirty="0"/>
          </a:p>
        </p:txBody>
      </p:sp>
      <p:sp>
        <p:nvSpPr>
          <p:cNvPr id="13" name="B stat"/>
          <p:cNvSpPr txBox="1"/>
          <p:nvPr/>
        </p:nvSpPr>
        <p:spPr>
          <a:xfrm>
            <a:off x="7342632" y="28117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6000" dirty="0"/>
          </a:p>
        </p:txBody>
      </p:sp>
      <p:sp>
        <p:nvSpPr>
          <p:cNvPr id="14" name="B caption"/>
          <p:cNvSpPr txBox="1"/>
          <p:nvPr/>
        </p:nvSpPr>
        <p:spPr>
          <a:xfrm>
            <a:off x="7342632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случаев ИИ выбирал резюме с женским именем (с мужским — в 52%)</a:t>
            </a:r>
            <a:endParaRPr lang="en-US" sz="1600" dirty="0"/>
          </a:p>
        </p:txBody>
      </p:sp>
      <p:sp>
        <p:nvSpPr>
          <p:cNvPr id="15" name="Tension arrow"/>
          <p:cNvSpPr/>
          <p:nvPr/>
        </p:nvSpPr>
        <p:spPr>
          <a:xfrm>
            <a:off x="5184648" y="3108960"/>
            <a:ext cx="1828800" cy="502920"/>
          </a:xfrm>
          <a:prstGeom prst="left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НО circle"/>
          <p:cNvSpPr/>
          <p:nvPr/>
        </p:nvSpPr>
        <p:spPr>
          <a:xfrm>
            <a:off x="5545836" y="2811780"/>
            <a:ext cx="1097280" cy="109728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НО text"/>
          <p:cNvSpPr txBox="1"/>
          <p:nvPr/>
        </p:nvSpPr>
        <p:spPr>
          <a:xfrm>
            <a:off x="5545836" y="28117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</a:t>
            </a:r>
            <a:endParaRPr lang="en-US" sz="3000" dirty="0"/>
          </a:p>
        </p:txBody>
      </p:sp>
      <p:sp>
        <p:nvSpPr>
          <p:cNvPr id="18" name="Takeaway strip"/>
          <p:cNvSpPr/>
          <p:nvPr/>
        </p:nvSpPr>
        <p:spPr>
          <a:xfrm>
            <a:off x="548640" y="5440680"/>
            <a:ext cx="11091672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obot"/>
          <p:cNvSpPr/>
          <p:nvPr/>
        </p:nvSpPr>
        <p:spPr>
          <a:xfrm>
            <a:off x="731520" y="5522976"/>
            <a:ext cx="429768" cy="4297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obot icon" descr="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60" y="5634716"/>
            <a:ext cx="206289" cy="206289"/>
          </a:xfrm>
          <a:prstGeom prst="rect">
            <a:avLst/>
          </a:prstGeom>
        </p:spPr>
      </p:pic>
      <p:sp>
        <p:nvSpPr>
          <p:cNvPr id="21" name="Takeaway"/>
          <p:cNvSpPr txBox="1"/>
          <p:nvPr/>
        </p:nvSpPr>
        <p:spPr>
          <a:xfrm>
            <a:off x="1325880" y="5440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Автоматизация ускоряет A и тиражирует B на весь поток</a:t>
            </a:r>
            <a:endParaRPr lang="en-US" sz="2000" dirty="0"/>
          </a:p>
        </p:txBody>
      </p:sp>
      <p:sp>
        <p:nvSpPr>
          <p:cNvPr id="22" name="Sources"/>
          <p:cNvSpPr txBox="1"/>
          <p:nvPr/>
        </p:nvSpPr>
        <p:spPr>
          <a:xfrm>
            <a:off x="54864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Источники: hh.ru; University of Washington, 2024 (открытые исследовательские модели)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Кто выигрывает, а кто платит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ile 1"/>
          <p:cNvSpPr/>
          <p:nvPr/>
        </p:nvSpPr>
        <p:spPr>
          <a:xfrm>
            <a:off x="5879592" y="1417320"/>
            <a:ext cx="57607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le number 1"/>
          <p:cNvSpPr txBox="1"/>
          <p:nvPr/>
        </p:nvSpPr>
        <p:spPr>
          <a:xfrm>
            <a:off x="6108192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≈12%</a:t>
            </a:r>
            <a:endParaRPr lang="en-US" sz="3600" dirty="0"/>
          </a:p>
        </p:txBody>
      </p:sp>
      <p:sp>
        <p:nvSpPr>
          <p:cNvPr id="6" name="Tile caption 1"/>
          <p:cNvSpPr txBox="1"/>
          <p:nvPr/>
        </p:nvSpPr>
        <p:spPr>
          <a:xfrm>
            <a:off x="8092440" y="1417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откликов подходят под вакансию (кейс работодателя)</a:t>
            </a:r>
            <a:endParaRPr lang="en-US" sz="1400" dirty="0"/>
          </a:p>
        </p:txBody>
      </p:sp>
      <p:sp>
        <p:nvSpPr>
          <p:cNvPr id="7" name="Tile 2"/>
          <p:cNvSpPr/>
          <p:nvPr/>
        </p:nvSpPr>
        <p:spPr>
          <a:xfrm>
            <a:off x="5879592" y="2446020"/>
            <a:ext cx="57607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ile number 2"/>
          <p:cNvSpPr txBox="1"/>
          <p:nvPr/>
        </p:nvSpPr>
        <p:spPr>
          <a:xfrm>
            <a:off x="6108192" y="24460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млн</a:t>
            </a:r>
            <a:endParaRPr lang="en-US" sz="3600" dirty="0"/>
          </a:p>
        </p:txBody>
      </p:sp>
      <p:sp>
        <p:nvSpPr>
          <p:cNvPr id="9" name="Tile caption 2"/>
          <p:cNvSpPr txBox="1"/>
          <p:nvPr/>
        </p:nvSpPr>
        <p:spPr>
          <a:xfrm>
            <a:off x="8092440" y="24460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квалифицированных кандидатов в США скрыты автофильтрами</a:t>
            </a:r>
            <a:endParaRPr lang="en-US" sz="1400" dirty="0"/>
          </a:p>
        </p:txBody>
      </p:sp>
      <p:sp>
        <p:nvSpPr>
          <p:cNvPr id="10" name="Tile 3"/>
          <p:cNvSpPr/>
          <p:nvPr/>
        </p:nvSpPr>
        <p:spPr>
          <a:xfrm>
            <a:off x="5879592" y="3474720"/>
            <a:ext cx="57607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ile number 3"/>
          <p:cNvSpPr txBox="1"/>
          <p:nvPr/>
        </p:nvSpPr>
        <p:spPr>
          <a:xfrm>
            <a:off x="6108192" y="3474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600" dirty="0"/>
          </a:p>
        </p:txBody>
      </p:sp>
      <p:sp>
        <p:nvSpPr>
          <p:cNvPr id="12" name="Tile caption 3"/>
          <p:cNvSpPr txBox="1"/>
          <p:nvPr/>
        </p:nvSpPr>
        <p:spPr>
          <a:xfrm>
            <a:off x="8092440" y="3474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руководителей признают: фильтры отсеивают подходящих</a:t>
            </a:r>
            <a:endParaRPr lang="en-US" sz="1400" dirty="0"/>
          </a:p>
        </p:txBody>
      </p:sp>
      <p:sp>
        <p:nvSpPr>
          <p:cNvPr id="13" name="Winners label"/>
          <p:cNvSpPr txBox="1"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ВЫИГРЫВАЮТ</a:t>
            </a:r>
            <a:endParaRPr lang="en-US" sz="1200" dirty="0"/>
          </a:p>
        </p:txBody>
      </p:sp>
      <p:sp>
        <p:nvSpPr>
          <p:cNvPr id="14" name="Payers label"/>
          <p:cNvSpPr txBox="1"/>
          <p:nvPr/>
        </p:nvSpPr>
        <p:spPr>
          <a:xfrm>
            <a:off x="9354312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НЕСУТ ИЗДЕРЖКИ</a:t>
            </a:r>
            <a:endParaRPr lang="en-US" sz="1200" dirty="0"/>
          </a:p>
        </p:txBody>
      </p:sp>
      <p:sp>
        <p:nvSpPr>
          <p:cNvPr id="15" name="Spectrum arrow"/>
          <p:cNvSpPr/>
          <p:nvPr/>
        </p:nvSpPr>
        <p:spPr>
          <a:xfrm>
            <a:off x="2468880" y="4709160"/>
            <a:ext cx="67665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6" name="Chip Рекрутер"/>
          <p:cNvSpPr/>
          <p:nvPr/>
        </p:nvSpPr>
        <p:spPr>
          <a:xfrm>
            <a:off x="548640" y="498348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Рекрутер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Рекрутер icon" descr="Рекруте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5400446"/>
            <a:ext cx="263347" cy="263347"/>
          </a:xfrm>
          <a:prstGeom prst="rect">
            <a:avLst/>
          </a:prstGeom>
        </p:spPr>
      </p:pic>
      <p:sp>
        <p:nvSpPr>
          <p:cNvPr id="19" name="Chip text Рекрутер"/>
          <p:cNvSpPr txBox="1"/>
          <p:nvPr/>
        </p:nvSpPr>
        <p:spPr>
          <a:xfrm>
            <a:off x="1417320" y="4983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Рекрутер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скорость</a:t>
            </a:r>
            <a:endParaRPr lang="en-US" sz="1600" dirty="0"/>
          </a:p>
        </p:txBody>
      </p:sp>
      <p:sp>
        <p:nvSpPr>
          <p:cNvPr id="20" name="Chip Руководитель"/>
          <p:cNvSpPr/>
          <p:nvPr/>
        </p:nvSpPr>
        <p:spPr>
          <a:xfrm>
            <a:off x="3376879" y="498348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Руководитель"/>
          <p:cNvSpPr/>
          <p:nvPr/>
        </p:nvSpPr>
        <p:spPr>
          <a:xfrm>
            <a:off x="3559759" y="525780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2" name="Руководитель icon" descr="Руководител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406" y="5400446"/>
            <a:ext cx="263347" cy="263347"/>
          </a:xfrm>
          <a:prstGeom prst="rect">
            <a:avLst/>
          </a:prstGeom>
        </p:spPr>
      </p:pic>
      <p:sp>
        <p:nvSpPr>
          <p:cNvPr id="23" name="Chip text Руководитель"/>
          <p:cNvSpPr txBox="1"/>
          <p:nvPr/>
        </p:nvSpPr>
        <p:spPr>
          <a:xfrm>
            <a:off x="4245559" y="4983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Руководитель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быстрее найм</a:t>
            </a:r>
            <a:endParaRPr lang="en-US" sz="1600" dirty="0"/>
          </a:p>
        </p:txBody>
      </p:sp>
      <p:sp>
        <p:nvSpPr>
          <p:cNvPr id="24" name="Chip Компания"/>
          <p:cNvSpPr/>
          <p:nvPr/>
        </p:nvSpPr>
        <p:spPr>
          <a:xfrm>
            <a:off x="6205118" y="498348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Компания"/>
          <p:cNvSpPr/>
          <p:nvPr/>
        </p:nvSpPr>
        <p:spPr>
          <a:xfrm>
            <a:off x="6387998" y="525780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6" name="Компания icon" descr="Компани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45" y="5400446"/>
            <a:ext cx="263347" cy="263347"/>
          </a:xfrm>
          <a:prstGeom prst="rect">
            <a:avLst/>
          </a:prstGeom>
        </p:spPr>
      </p:pic>
      <p:sp>
        <p:nvSpPr>
          <p:cNvPr id="27" name="Chip text Компания"/>
          <p:cNvSpPr txBox="1"/>
          <p:nvPr/>
        </p:nvSpPr>
        <p:spPr>
          <a:xfrm>
            <a:off x="7073798" y="4983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Компания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платит позже</a:t>
            </a:r>
            <a:endParaRPr lang="en-US" sz="1600" dirty="0"/>
          </a:p>
        </p:txBody>
      </p:sp>
      <p:sp>
        <p:nvSpPr>
          <p:cNvPr id="28" name="Chip Кандидат"/>
          <p:cNvSpPr/>
          <p:nvPr/>
        </p:nvSpPr>
        <p:spPr>
          <a:xfrm>
            <a:off x="9033358" y="498348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Кандидат"/>
          <p:cNvSpPr/>
          <p:nvPr/>
        </p:nvSpPr>
        <p:spPr>
          <a:xfrm>
            <a:off x="9216238" y="525780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Кандидат icon" descr="Кандида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8884" y="5400446"/>
            <a:ext cx="263347" cy="263347"/>
          </a:xfrm>
          <a:prstGeom prst="rect">
            <a:avLst/>
          </a:prstGeom>
        </p:spPr>
      </p:pic>
      <p:sp>
        <p:nvSpPr>
          <p:cNvPr id="31" name="Chip text Кандидат"/>
          <p:cNvSpPr txBox="1"/>
          <p:nvPr/>
        </p:nvSpPr>
        <p:spPr>
          <a:xfrm>
            <a:off x="9902038" y="49834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Кандидат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платит сразу</a:t>
            </a:r>
            <a:endParaRPr lang="en-US" sz="1600" dirty="0"/>
          </a:p>
        </p:txBody>
      </p:sp>
      <p:sp>
        <p:nvSpPr>
          <p:cNvPr id="32" name="Sources"/>
          <p:cNvSpPr txBox="1"/>
          <p:nvPr/>
        </p:nvSpPr>
        <p:spPr>
          <a:xfrm>
            <a:off x="54864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Источники: hh.ru; Habr (кейс работодателя); Harvard Business School / Accenture, 2021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Где конфликт проявляется в процессе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31089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digit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itle 1"/>
          <p:cNvSpPr txBox="1"/>
          <p:nvPr/>
        </p:nvSpPr>
        <p:spPr>
          <a:xfrm>
            <a:off x="1463040" y="1737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Отклики</a:t>
            </a:r>
            <a:endParaRPr lang="en-US" sz="2000" dirty="0"/>
          </a:p>
        </p:txBody>
      </p:sp>
      <p:sp>
        <p:nvSpPr>
          <p:cNvPr id="7" name="Step items 1"/>
          <p:cNvSpPr txBox="1"/>
          <p:nvPr/>
        </p:nvSpPr>
        <p:spPr>
          <a:xfrm>
            <a:off x="822960" y="256032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24 → 61 откликов на вакансию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автоотклики без адаптации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3931920" y="1554480"/>
            <a:ext cx="4297680" cy="2743200"/>
          </a:xfrm>
          <a:prstGeom prst="roundRect">
            <a:avLst>
              <a:gd name="adj" fmla="val 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4160520" y="17830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Step digit 2"/>
          <p:cNvSpPr txBox="1"/>
          <p:nvPr/>
        </p:nvSpPr>
        <p:spPr>
          <a:xfrm>
            <a:off x="4160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title 2"/>
          <p:cNvSpPr txBox="1"/>
          <p:nvPr/>
        </p:nvSpPr>
        <p:spPr>
          <a:xfrm>
            <a:off x="4846320" y="17373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Первичный скрининг</a:t>
            </a:r>
            <a:endParaRPr lang="en-US" sz="2000" dirty="0"/>
          </a:p>
        </p:txBody>
      </p:sp>
      <p:sp>
        <p:nvSpPr>
          <p:cNvPr id="12" name="Step items 2"/>
          <p:cNvSpPr txBox="1"/>
          <p:nvPr/>
        </p:nvSpPr>
        <p:spPr>
          <a:xfrm>
            <a:off x="4206240" y="256032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секунды на резюме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резюме в нейросеть без настройки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ответ модели = решение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стоп-фильтры: пробелы, стаж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смотрят «по диагонали»*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8503920" y="1554480"/>
            <a:ext cx="3136392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number 3"/>
          <p:cNvSpPr/>
          <p:nvPr/>
        </p:nvSpPr>
        <p:spPr>
          <a:xfrm>
            <a:off x="873252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 digit 3"/>
          <p:cNvSpPr txBox="1"/>
          <p:nvPr/>
        </p:nvSpPr>
        <p:spPr>
          <a:xfrm>
            <a:off x="8732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title 3"/>
          <p:cNvSpPr txBox="1"/>
          <p:nvPr/>
        </p:nvSpPr>
        <p:spPr>
          <a:xfrm>
            <a:off x="9418320" y="17373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Согласование</a:t>
            </a:r>
            <a:endParaRPr lang="en-US" sz="2000" dirty="0"/>
          </a:p>
        </p:txBody>
      </p:sp>
      <p:sp>
        <p:nvSpPr>
          <p:cNvPr id="17" name="Step items 3"/>
          <p:cNvSpPr txBox="1"/>
          <p:nvPr/>
        </p:nvSpPr>
        <p:spPr>
          <a:xfrm>
            <a:off x="8778240" y="2560320"/>
            <a:ext cx="26334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критерии «в голове» у руководителя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шорт-лист возвращают: «не тот профиль»*</a:t>
            </a:r>
            <a:endParaRPr lang="en-US" sz="1400" dirty="0"/>
          </a:p>
        </p:txBody>
      </p:sp>
      <p:sp>
        <p:nvSpPr>
          <p:cNvPr id="18" name="Flow arrow 1"/>
          <p:cNvSpPr/>
          <p:nvPr/>
        </p:nvSpPr>
        <p:spPr>
          <a:xfrm>
            <a:off x="3657600" y="2743200"/>
            <a:ext cx="2743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Flow arrow 2"/>
          <p:cNvSpPr/>
          <p:nvPr/>
        </p:nvSpPr>
        <p:spPr>
          <a:xfrm>
            <a:off x="8229600" y="2743200"/>
            <a:ext cx="2743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Hot badge"/>
          <p:cNvSpPr/>
          <p:nvPr/>
        </p:nvSpPr>
        <p:spPr>
          <a:xfrm>
            <a:off x="4892040" y="1389888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Hot badge text"/>
          <p:cNvSpPr txBox="1"/>
          <p:nvPr/>
        </p:nvSpPr>
        <p:spPr>
          <a:xfrm>
            <a:off x="4892040" y="1389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ТОЧКА НАПРЯЖЕНИЯ</a:t>
            </a:r>
            <a:endParaRPr lang="en-US" sz="1200" dirty="0"/>
          </a:p>
        </p:txBody>
      </p:sp>
      <p:sp>
        <p:nvSpPr>
          <p:cNvPr id="22" name="Order panel"/>
          <p:cNvSpPr/>
          <p:nvPr/>
        </p:nvSpPr>
        <p:spPr>
          <a:xfrm>
            <a:off x="548640" y="4526280"/>
            <a:ext cx="5303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Order heading"/>
          <p:cNvSpPr txBox="1"/>
          <p:nvPr/>
        </p:nvSpPr>
        <p:spPr>
          <a:xfrm>
            <a:off x="77724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Приказом не решить</a:t>
            </a:r>
            <a:endParaRPr lang="en-US" sz="1600" dirty="0"/>
          </a:p>
        </p:txBody>
      </p:sp>
      <p:sp>
        <p:nvSpPr>
          <p:cNvPr id="24" name="Order items"/>
          <p:cNvSpPr txBox="1"/>
          <p:nvPr/>
        </p:nvSpPr>
        <p:spPr>
          <a:xfrm>
            <a:off x="77724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запрет ИИ → «теневое» использование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«читать всё» → ≈15 ч на 10 вакансий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«не дискриминировать» → нельзя проверить</a:t>
            </a:r>
            <a:endParaRPr lang="en-US" sz="1400" dirty="0"/>
          </a:p>
        </p:txBody>
      </p:sp>
      <p:sp>
        <p:nvSpPr>
          <p:cNvPr id="25" name="Risks heading"/>
          <p:cNvSpPr txBox="1"/>
          <p:nvPr/>
        </p:nvSpPr>
        <p:spPr>
          <a:xfrm>
            <a:off x="6126480" y="4526280"/>
            <a:ext cx="551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Риски, если не решить</a:t>
            </a:r>
            <a:endParaRPr lang="en-US" sz="1600" dirty="0"/>
          </a:p>
        </p:txBody>
      </p:sp>
      <p:sp>
        <p:nvSpPr>
          <p:cNvPr id="26" name="Risk Правовые"/>
          <p:cNvSpPr/>
          <p:nvPr/>
        </p:nvSpPr>
        <p:spPr>
          <a:xfrm>
            <a:off x="6126480" y="493776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Risk Правовые"/>
          <p:cNvSpPr/>
          <p:nvPr/>
        </p:nvSpPr>
        <p:spPr>
          <a:xfrm>
            <a:off x="6492240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Risk Правовые icon" descr="Risk Правовы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886" y="5171846"/>
            <a:ext cx="263347" cy="263347"/>
          </a:xfrm>
          <a:prstGeom prst="rect">
            <a:avLst/>
          </a:prstGeom>
        </p:spPr>
      </p:pic>
      <p:sp>
        <p:nvSpPr>
          <p:cNvPr id="29" name="Risk label Правовые"/>
          <p:cNvSpPr txBox="1"/>
          <p:nvPr/>
        </p:nvSpPr>
        <p:spPr>
          <a:xfrm>
            <a:off x="6153912" y="565099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Правовые</a:t>
            </a:r>
            <a:endParaRPr lang="en-US" sz="1200" dirty="0"/>
          </a:p>
        </p:txBody>
      </p:sp>
      <p:sp>
        <p:nvSpPr>
          <p:cNvPr id="30" name="Risk Кадровые"/>
          <p:cNvSpPr/>
          <p:nvPr/>
        </p:nvSpPr>
        <p:spPr>
          <a:xfrm>
            <a:off x="7537399" y="493776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Risk Кадровые"/>
          <p:cNvSpPr/>
          <p:nvPr/>
        </p:nvSpPr>
        <p:spPr>
          <a:xfrm>
            <a:off x="7903159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Risk Кадровые icon" descr="Risk Кадровы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806" y="5171846"/>
            <a:ext cx="263347" cy="263347"/>
          </a:xfrm>
          <a:prstGeom prst="rect">
            <a:avLst/>
          </a:prstGeom>
        </p:spPr>
      </p:pic>
      <p:sp>
        <p:nvSpPr>
          <p:cNvPr id="33" name="Risk label Кадровые"/>
          <p:cNvSpPr txBox="1"/>
          <p:nvPr/>
        </p:nvSpPr>
        <p:spPr>
          <a:xfrm>
            <a:off x="7564831" y="565099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Кадровые</a:t>
            </a:r>
            <a:endParaRPr lang="en-US" sz="1200" dirty="0"/>
          </a:p>
        </p:txBody>
      </p:sp>
      <p:sp>
        <p:nvSpPr>
          <p:cNvPr id="34" name="Risk Управленческие"/>
          <p:cNvSpPr/>
          <p:nvPr/>
        </p:nvSpPr>
        <p:spPr>
          <a:xfrm>
            <a:off x="8948318" y="493776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Risk Управленческие"/>
          <p:cNvSpPr/>
          <p:nvPr/>
        </p:nvSpPr>
        <p:spPr>
          <a:xfrm>
            <a:off x="9314078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Risk Управленческие icon" descr="Risk Управленчески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5171846"/>
            <a:ext cx="263347" cy="263347"/>
          </a:xfrm>
          <a:prstGeom prst="rect">
            <a:avLst/>
          </a:prstGeom>
        </p:spPr>
      </p:pic>
      <p:sp>
        <p:nvSpPr>
          <p:cNvPr id="37" name="Risk label Управленческие"/>
          <p:cNvSpPr txBox="1"/>
          <p:nvPr/>
        </p:nvSpPr>
        <p:spPr>
          <a:xfrm>
            <a:off x="8975750" y="565099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Управленческие</a:t>
            </a:r>
            <a:endParaRPr lang="en-US" sz="1200" dirty="0"/>
          </a:p>
        </p:txBody>
      </p:sp>
      <p:sp>
        <p:nvSpPr>
          <p:cNvPr id="38" name="Risk Репутационные"/>
          <p:cNvSpPr/>
          <p:nvPr/>
        </p:nvSpPr>
        <p:spPr>
          <a:xfrm>
            <a:off x="10359238" y="4937760"/>
            <a:ext cx="12801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Risk Репутационные"/>
          <p:cNvSpPr/>
          <p:nvPr/>
        </p:nvSpPr>
        <p:spPr>
          <a:xfrm>
            <a:off x="10724998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Risk Репутационные icon" descr="Risk Репутационны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644" y="5171846"/>
            <a:ext cx="263347" cy="263347"/>
          </a:xfrm>
          <a:prstGeom prst="rect">
            <a:avLst/>
          </a:prstGeom>
        </p:spPr>
      </p:pic>
      <p:sp>
        <p:nvSpPr>
          <p:cNvPr id="41" name="Risk label Репутационные"/>
          <p:cNvSpPr txBox="1"/>
          <p:nvPr/>
        </p:nvSpPr>
        <p:spPr>
          <a:xfrm>
            <a:off x="10386670" y="565099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Репутационные</a:t>
            </a:r>
            <a:endParaRPr lang="en-US" sz="1200" dirty="0"/>
          </a:p>
        </p:txBody>
      </p:sp>
      <p:sp>
        <p:nvSpPr>
          <p:cNvPr id="42" name="Sources"/>
          <p:cNvSpPr txBox="1"/>
          <p:nvPr/>
        </p:nvSpPr>
        <p:spPr>
          <a:xfrm>
            <a:off x="54864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* гипотеза, проверим в интервью с HR. Источники: hh.ru; Habr (кейсы работодателей)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аспорт противоречия">
  <a:themeElements>
    <a:clrScheme name="Паспорт противоречия">
      <a:dk1>
        <a:srgbClr val="1B2A33"/>
      </a:dk1>
      <a:lt1>
        <a:srgbClr val="FFFFFF"/>
      </a:lt1>
      <a:dk2>
        <a:srgbClr val="0F4C5C"/>
      </a:dk2>
      <a:lt2>
        <a:srgbClr val="EAF1F3"/>
      </a:lt2>
      <a:accent1>
        <a:srgbClr val="0F4C5C"/>
      </a:accent1>
      <a:accent2>
        <a:srgbClr val="C8431F"/>
      </a:accent2>
      <a:accent3>
        <a:srgbClr val="F2A33A"/>
      </a:accent3>
      <a:accent4>
        <a:srgbClr val="5B8E7D"/>
      </a:accent4>
      <a:accent5>
        <a:srgbClr val="5A6B78"/>
      </a:accent5>
      <a:accent6>
        <a:srgbClr val="2E86AB"/>
      </a:accent6>
      <a:hlink>
        <a:srgbClr val="2E86AB"/>
      </a:hlink>
      <a:folHlink>
        <a:srgbClr val="5A6B78"/>
      </a:folHlink>
    </a:clrScheme>
    <a:fontScheme name="Паспорт противоречия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Паспорт противоречия: первичный скрининг резюме</dc:title>
  <dc:subject>PptxGenJS Presentation</dc:subject>
  <dc:creator>PptxGenJS</dc:creator>
  <cp:lastModifiedBy>PptxGenJS</cp:lastModifiedBy>
  <cp:revision>1</cp:revision>
  <dcterms:created xsi:type="dcterms:W3CDTF">2026-10-07T18:31:30Z</dcterms:created>
  <dcterms:modified xsi:type="dcterms:W3CDTF">2026-10-07T18:31:30Z</dcterms:modified>
</cp:coreProperties>
</file>